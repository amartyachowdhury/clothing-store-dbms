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oboto"/>
      <p:regular r:id="rId14"/>
      <p:bold r:id="rId15"/>
      <p:italic r:id="rId16"/>
      <p:boldItalic r:id="rId17"/>
    </p:embeddedFont>
    <p:embeddedFont>
      <p:font typeface="Merriweather"/>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erriweather-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Merriweather-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5" Type="http://schemas.openxmlformats.org/officeDocument/2006/relationships/notesMaster" Target="notesMasters/notesMaster1.xml"/><Relationship Id="rId19" Type="http://schemas.openxmlformats.org/officeDocument/2006/relationships/font" Target="fonts/Merriweather-bold.fntdata"/><Relationship Id="rId6" Type="http://schemas.openxmlformats.org/officeDocument/2006/relationships/slide" Target="slides/slide1.xml"/><Relationship Id="rId18" Type="http://schemas.openxmlformats.org/officeDocument/2006/relationships/font" Target="fonts/Merriweather-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[AMARTYA]</a:t>
            </a:r>
            <a:endParaRPr/>
          </a:p>
          <a:p>
            <a:pPr indent="0" lvl="0" marL="0" rtl="0" algn="l">
              <a:spcBef>
                <a:spcPts val="0"/>
              </a:spcBef>
              <a:spcAft>
                <a:spcPts val="0"/>
              </a:spcAft>
              <a:buNone/>
            </a:pPr>
            <a:r>
              <a:rPr lang="en-CA"/>
              <a:t>Hi, my name’s Amar; together with Eshana and Walied, we are Group 8, and our project is the “Clothing Retail Store Database Management System”.</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7e1fd9f012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7e1fd9f012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[AMARTYA]</a:t>
            </a:r>
            <a:endParaRPr/>
          </a:p>
          <a:p>
            <a:pPr indent="0" lvl="0" marL="0" rtl="0" algn="l">
              <a:spcBef>
                <a:spcPts val="0"/>
              </a:spcBef>
              <a:spcAft>
                <a:spcPts val="0"/>
              </a:spcAft>
              <a:buNone/>
            </a:pPr>
            <a:r>
              <a:rPr lang="en-CA"/>
              <a:t>The problem that we are trying to solve is that currently clothing stores often face inventory errors, keep manual records and have difficulties in tracking customer purchases, which leads to inefficiencies.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7e1fd9f012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7e1fd9f012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[AMARTYA]</a:t>
            </a:r>
            <a:endParaRPr/>
          </a:p>
          <a:p>
            <a:pPr indent="0" lvl="0" marL="0" rtl="0" algn="l">
              <a:spcBef>
                <a:spcPts val="0"/>
              </a:spcBef>
              <a:spcAft>
                <a:spcPts val="0"/>
              </a:spcAft>
              <a:buNone/>
            </a:pPr>
            <a:r>
              <a:rPr lang="en-CA"/>
              <a:t>So, the solution to that problem is to create a DBMS (DataBase Management System) that centralizes operations, reduces errors and helps parties involved in decision making. I will now handover to Eshana for the next portion of the presentation.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7e1fd9f012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7e1fd9f012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[ESHANA]</a:t>
            </a:r>
            <a:endParaRPr/>
          </a:p>
          <a:p>
            <a:pPr indent="0" lvl="0" marL="0" rtl="0" algn="l">
              <a:spcBef>
                <a:spcPts val="0"/>
              </a:spcBef>
              <a:spcAft>
                <a:spcPts val="0"/>
              </a:spcAft>
              <a:buNone/>
            </a:pPr>
            <a:r>
              <a:rPr lang="en-CA"/>
              <a:t>Hi, my name’s Eshana and I will be going over some of the entities in the DBMS.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The DBMS will consist of several entities such as Products, Categories, Customers, Orders, OrderItems, and Payments.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In practice, each Product will have attributes such as size, colour, brand, price, and stock quantity.</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7e1fd9f012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7e1fd9f012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[ESHANA]</a:t>
            </a:r>
            <a:endParaRPr/>
          </a:p>
          <a:p>
            <a:pPr indent="0" lvl="0" marL="0" rtl="0" algn="l">
              <a:spcBef>
                <a:spcPts val="0"/>
              </a:spcBef>
              <a:spcAft>
                <a:spcPts val="0"/>
              </a:spcAft>
              <a:buNone/>
            </a:pPr>
            <a:r>
              <a:rPr lang="en-CA"/>
              <a:t>In addition, the system will support key functions like adding products, tracking sales, updating inventory automatically and generating reports such as </a:t>
            </a:r>
            <a:r>
              <a:rPr lang="en-CA"/>
              <a:t>monthly</a:t>
            </a:r>
            <a:r>
              <a:rPr lang="en-CA"/>
              <a:t> sales reports or low stock alerts.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I’ll now hand over to Walied for the last </a:t>
            </a:r>
            <a:r>
              <a:rPr lang="en-CA"/>
              <a:t>portion</a:t>
            </a:r>
            <a:r>
              <a:rPr lang="en-CA"/>
              <a:t> of this presentation.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7e1fd9f012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7e1fd9f012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[WALIED]</a:t>
            </a:r>
            <a:endParaRPr/>
          </a:p>
          <a:p>
            <a:pPr indent="0" lvl="0" marL="0" rtl="0" algn="l">
              <a:spcBef>
                <a:spcPts val="0"/>
              </a:spcBef>
              <a:spcAft>
                <a:spcPts val="0"/>
              </a:spcAft>
              <a:buNone/>
            </a:pPr>
            <a:r>
              <a:rPr lang="en-CA"/>
              <a:t>Hi, my name’s Walied, and I’ll be going over some of the queries and functions that can be performed in the DBMS.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Some examples of queries include listing all products under “Shirts”, retrieving a customers’ purchase history, and calculating monthly sales totals.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7e1fd9f012_0_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7e1fd9f012_0_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[WALIED]</a:t>
            </a:r>
            <a:endParaRPr/>
          </a:p>
          <a:p>
            <a:pPr indent="0" lvl="0" marL="0" rtl="0" algn="l">
              <a:spcBef>
                <a:spcPts val="0"/>
              </a:spcBef>
              <a:spcAft>
                <a:spcPts val="0"/>
              </a:spcAft>
              <a:buNone/>
            </a:pPr>
            <a:r>
              <a:rPr lang="en-CA"/>
              <a:t>We will also be enforcing some constraints: all IDs must be unique, stock must never go negative, and payment methods are limited to either Cash, Credit or Debit.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7e1fd9f012_0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7e1fd9f012_0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[WALIED]</a:t>
            </a:r>
            <a:endParaRPr/>
          </a:p>
          <a:p>
            <a:pPr indent="0" lvl="0" marL="0" rtl="0" algn="l">
              <a:spcBef>
                <a:spcPts val="0"/>
              </a:spcBef>
              <a:spcAft>
                <a:spcPts val="0"/>
              </a:spcAft>
              <a:buNone/>
            </a:pPr>
            <a:r>
              <a:rPr lang="en-CA"/>
              <a:t>The system’s users will include Cashiers, who record sales and issue receipts; Inventory Clerks, who manage stock and categories; and Managers who analyse reports for business decisions.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In conclusion, our DBMS will streamline store operations and provide reliable, data driven insights.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Thank you.</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a:t>Clothing Retail Store DBMS,</a:t>
            </a:r>
            <a:endParaRPr/>
          </a:p>
          <a:p>
            <a:pPr indent="0" lvl="0" marL="0" rtl="0" algn="l">
              <a:spcBef>
                <a:spcPts val="0"/>
              </a:spcBef>
              <a:spcAft>
                <a:spcPts val="0"/>
              </a:spcAft>
              <a:buNone/>
            </a:pPr>
            <a:r>
              <a:rPr lang="en-CA"/>
              <a:t>Group 8</a:t>
            </a:r>
            <a:endParaRPr/>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CA"/>
              <a:t>Amartya Chowdhury, 501153217</a:t>
            </a:r>
            <a:endParaRPr/>
          </a:p>
          <a:p>
            <a:pPr indent="0" lvl="0" marL="0" rtl="0" algn="l">
              <a:spcBef>
                <a:spcPts val="0"/>
              </a:spcBef>
              <a:spcAft>
                <a:spcPts val="0"/>
              </a:spcAft>
              <a:buNone/>
            </a:pPr>
            <a:r>
              <a:rPr lang="en-CA"/>
              <a:t>Mehrin Afroz Eshana, 501147157</a:t>
            </a:r>
            <a:endParaRPr/>
          </a:p>
          <a:p>
            <a:pPr indent="0" lvl="0" marL="0" rtl="0" algn="l">
              <a:spcBef>
                <a:spcPts val="0"/>
              </a:spcBef>
              <a:spcAft>
                <a:spcPts val="0"/>
              </a:spcAft>
              <a:buNone/>
            </a:pPr>
            <a:r>
              <a:rPr lang="en-CA"/>
              <a:t>Mohamad Al Walied Hasan Nafis, 501241332</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a:t>The Problem</a:t>
            </a:r>
            <a:endParaRPr/>
          </a:p>
        </p:txBody>
      </p:sp>
      <p:sp>
        <p:nvSpPr>
          <p:cNvPr id="71" name="Google Shape;71;p1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CA"/>
              <a:t>Manual store operations often lead to human errors</a:t>
            </a:r>
            <a:endParaRPr/>
          </a:p>
          <a:p>
            <a:pPr indent="-311150" lvl="0" marL="457200" rtl="0" algn="l">
              <a:spcBef>
                <a:spcPts val="0"/>
              </a:spcBef>
              <a:spcAft>
                <a:spcPts val="0"/>
              </a:spcAft>
              <a:buSzPts val="1300"/>
              <a:buChar char="-"/>
            </a:pPr>
            <a:r>
              <a:rPr lang="en-CA"/>
              <a:t>Which </a:t>
            </a:r>
            <a:r>
              <a:rPr lang="en-CA"/>
              <a:t>leads to inefficient sales tracking, inventory tracking, and customer management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a:t>The Solution</a:t>
            </a:r>
            <a:endParaRPr/>
          </a:p>
        </p:txBody>
      </p:sp>
      <p:sp>
        <p:nvSpPr>
          <p:cNvPr id="77" name="Google Shape;77;p15"/>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CA"/>
              <a:t>A creation of a centralized DBMS for products, customers, sales, and inventory reports.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a:t>Entities</a:t>
            </a:r>
            <a:endParaRPr/>
          </a:p>
        </p:txBody>
      </p:sp>
      <p:sp>
        <p:nvSpPr>
          <p:cNvPr id="83" name="Google Shape;83;p16"/>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CA"/>
              <a:t>Products (name, size, colour, price, stock)</a:t>
            </a:r>
            <a:endParaRPr/>
          </a:p>
          <a:p>
            <a:pPr indent="-311150" lvl="0" marL="457200" rtl="0" algn="l">
              <a:spcBef>
                <a:spcPts val="0"/>
              </a:spcBef>
              <a:spcAft>
                <a:spcPts val="0"/>
              </a:spcAft>
              <a:buSzPts val="1300"/>
              <a:buChar char="-"/>
            </a:pPr>
            <a:r>
              <a:rPr lang="en-CA"/>
              <a:t>Categories (shirts, pants, jackets, etc.)</a:t>
            </a:r>
            <a:endParaRPr/>
          </a:p>
          <a:p>
            <a:pPr indent="-311150" lvl="0" marL="457200" rtl="0" algn="l">
              <a:spcBef>
                <a:spcPts val="0"/>
              </a:spcBef>
              <a:spcAft>
                <a:spcPts val="0"/>
              </a:spcAft>
              <a:buSzPts val="1300"/>
              <a:buChar char="-"/>
            </a:pPr>
            <a:r>
              <a:rPr lang="en-CA"/>
              <a:t>Customers (contact info, purchase history)</a:t>
            </a:r>
            <a:endParaRPr/>
          </a:p>
          <a:p>
            <a:pPr indent="-311150" lvl="0" marL="457200" rtl="0" algn="l">
              <a:spcBef>
                <a:spcPts val="0"/>
              </a:spcBef>
              <a:spcAft>
                <a:spcPts val="0"/>
              </a:spcAft>
              <a:buSzPts val="1300"/>
              <a:buChar char="-"/>
            </a:pPr>
            <a:r>
              <a:rPr lang="en-CA"/>
              <a:t>Orders &amp; OrderItems</a:t>
            </a:r>
            <a:endParaRPr/>
          </a:p>
          <a:p>
            <a:pPr indent="-311150" lvl="0" marL="457200" rtl="0" algn="l">
              <a:spcBef>
                <a:spcPts val="0"/>
              </a:spcBef>
              <a:spcAft>
                <a:spcPts val="0"/>
              </a:spcAft>
              <a:buSzPts val="1300"/>
              <a:buChar char="-"/>
            </a:pPr>
            <a:r>
              <a:rPr lang="en-CA"/>
              <a:t>Payments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a:t>Functions</a:t>
            </a:r>
            <a:endParaRPr/>
          </a:p>
        </p:txBody>
      </p:sp>
      <p:sp>
        <p:nvSpPr>
          <p:cNvPr id="89" name="Google Shape;89;p17"/>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CA"/>
              <a:t>Add/update/remove products</a:t>
            </a:r>
            <a:endParaRPr/>
          </a:p>
          <a:p>
            <a:pPr indent="-311150" lvl="0" marL="457200" rtl="0" algn="l">
              <a:spcBef>
                <a:spcPts val="0"/>
              </a:spcBef>
              <a:spcAft>
                <a:spcPts val="0"/>
              </a:spcAft>
              <a:buSzPts val="1300"/>
              <a:buChar char="-"/>
            </a:pPr>
            <a:r>
              <a:rPr lang="en-CA"/>
              <a:t>Track sales and </a:t>
            </a:r>
            <a:r>
              <a:rPr lang="en-CA"/>
              <a:t>auto</a:t>
            </a:r>
            <a:r>
              <a:rPr lang="en-CA"/>
              <a:t>-update stock</a:t>
            </a:r>
            <a:endParaRPr/>
          </a:p>
          <a:p>
            <a:pPr indent="-311150" lvl="0" marL="457200" rtl="0" algn="l">
              <a:spcBef>
                <a:spcPts val="0"/>
              </a:spcBef>
              <a:spcAft>
                <a:spcPts val="0"/>
              </a:spcAft>
              <a:buSzPts val="1300"/>
              <a:buChar char="-"/>
            </a:pPr>
            <a:r>
              <a:rPr lang="en-CA"/>
              <a:t>Generate reports (monthly sales, low stock, top products)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a:t>Examples of Queries</a:t>
            </a:r>
            <a:endParaRPr/>
          </a:p>
        </p:txBody>
      </p:sp>
      <p:sp>
        <p:nvSpPr>
          <p:cNvPr id="95" name="Google Shape;95;p18"/>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CA"/>
              <a:t>List products under “Shirts”</a:t>
            </a:r>
            <a:endParaRPr/>
          </a:p>
          <a:p>
            <a:pPr indent="-311150" lvl="0" marL="457200" rtl="0" algn="l">
              <a:spcBef>
                <a:spcPts val="0"/>
              </a:spcBef>
              <a:spcAft>
                <a:spcPts val="0"/>
              </a:spcAft>
              <a:buSzPts val="1300"/>
              <a:buChar char="-"/>
            </a:pPr>
            <a:r>
              <a:rPr lang="en-CA"/>
              <a:t>Show purchase history of a particular customer</a:t>
            </a:r>
            <a:endParaRPr/>
          </a:p>
          <a:p>
            <a:pPr indent="-311150" lvl="0" marL="457200" rtl="0" algn="l">
              <a:spcBef>
                <a:spcPts val="0"/>
              </a:spcBef>
              <a:spcAft>
                <a:spcPts val="0"/>
              </a:spcAft>
              <a:buSzPts val="1300"/>
              <a:buChar char="-"/>
            </a:pPr>
            <a:r>
              <a:rPr lang="en-CA"/>
              <a:t>Retrieve monthly sales totals for a particular month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a:t>Constraints</a:t>
            </a:r>
            <a:endParaRPr/>
          </a:p>
        </p:txBody>
      </p:sp>
      <p:sp>
        <p:nvSpPr>
          <p:cNvPr id="101" name="Google Shape;101;p19"/>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CA"/>
              <a:t>Unique IDs for all entities</a:t>
            </a:r>
            <a:endParaRPr/>
          </a:p>
          <a:p>
            <a:pPr indent="-311150" lvl="0" marL="457200" rtl="0" algn="l">
              <a:spcBef>
                <a:spcPts val="0"/>
              </a:spcBef>
              <a:spcAft>
                <a:spcPts val="0"/>
              </a:spcAft>
              <a:buSzPts val="1300"/>
              <a:buChar char="-"/>
            </a:pPr>
            <a:r>
              <a:rPr lang="en-CA"/>
              <a:t>Stock &gt;= 0</a:t>
            </a:r>
            <a:endParaRPr/>
          </a:p>
          <a:p>
            <a:pPr indent="-311150" lvl="0" marL="457200" rtl="0" algn="l">
              <a:spcBef>
                <a:spcPts val="0"/>
              </a:spcBef>
              <a:spcAft>
                <a:spcPts val="0"/>
              </a:spcAft>
              <a:buSzPts val="1300"/>
              <a:buChar char="-"/>
            </a:pPr>
            <a:r>
              <a:rPr lang="en-CA"/>
              <a:t>Accepted payment methods: Cash, Credit or Debit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a:t>Users</a:t>
            </a:r>
            <a:endParaRPr/>
          </a:p>
        </p:txBody>
      </p:sp>
      <p:sp>
        <p:nvSpPr>
          <p:cNvPr id="107" name="Google Shape;107;p20"/>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CA"/>
              <a:t>Cashier → records sales, generates receipts</a:t>
            </a:r>
            <a:endParaRPr/>
          </a:p>
          <a:p>
            <a:pPr indent="-311150" lvl="0" marL="457200" rtl="0" algn="l">
              <a:spcBef>
                <a:spcPts val="0"/>
              </a:spcBef>
              <a:spcAft>
                <a:spcPts val="0"/>
              </a:spcAft>
              <a:buSzPts val="1300"/>
              <a:buChar char="-"/>
            </a:pPr>
            <a:r>
              <a:rPr lang="en-CA"/>
              <a:t>Inventory Clerk → manages stock, categories</a:t>
            </a:r>
            <a:endParaRPr/>
          </a:p>
          <a:p>
            <a:pPr indent="-311150" lvl="0" marL="457200" rtl="0" algn="l">
              <a:spcBef>
                <a:spcPts val="0"/>
              </a:spcBef>
              <a:spcAft>
                <a:spcPts val="0"/>
              </a:spcAft>
              <a:buSzPts val="1300"/>
              <a:buChar char="-"/>
            </a:pPr>
            <a:r>
              <a:rPr lang="en-CA"/>
              <a:t>Manager → reports, business decisions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